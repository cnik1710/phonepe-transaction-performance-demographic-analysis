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80" r:id="rId3"/>
    <p:sldId id="281" r:id="rId4"/>
    <p:sldId id="282" r:id="rId5"/>
    <p:sldId id="260" r:id="rId6"/>
    <p:sldId id="272" r:id="rId7"/>
    <p:sldId id="278" r:id="rId8"/>
    <p:sldId id="279" r:id="rId9"/>
    <p:sldId id="262" r:id="rId10"/>
    <p:sldId id="273" r:id="rId11"/>
    <p:sldId id="264" r:id="rId12"/>
    <p:sldId id="283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CF1F-F9A3-4EFC-825C-53D69F98438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1917-29C8-4BC7-957C-F11257860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419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8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61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76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E4F6C-D6F4-8FB5-FF73-8F91FCB3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E266E-CFA8-F05A-05AD-D3258519C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37B71-408E-DA9D-9E95-8AD5B5015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5EA00-E366-5A79-0893-A91E7A61B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00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CF-3689-70DD-CB28-AAE1111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E79-C9C7-BB25-EF2A-10D00584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02CA-5B96-CB8A-20AE-3906E8C3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4E639-AD7E-574C-C9E9-F5B43490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D176-E79D-6844-CB60-E7C78B6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7AB7-A55C-0B82-FAED-B7E33232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BAA-D510-ABB0-901D-0FAB309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2E59-3B88-F398-664D-3985AEA3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5EA-93FA-07C0-7322-40260FD5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D02C-4A2F-1824-59A1-7983E44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FFE9-1FD7-F63D-6439-1E27142E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7795-663E-05D7-5AD6-EDE501C6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FD33-591E-4820-A128-A94F0B33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3559-082C-1927-2A99-DB0902A7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344-A764-7087-642A-130D4BDB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2F8-3E12-F92D-405F-D6F5387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924-67EF-C4F4-CBC4-3BA853B5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2A22-3AA1-9209-180C-ACD5CAE4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6BA27-B2FD-C446-BEC7-8C46DD9B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49FC-F9E9-C312-F4C6-8D6D604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05D3-5917-4780-1633-FE4FD211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71D-B1D1-D670-316D-2468EC1F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81C9-A6B4-72BB-6420-63D0C9FB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F6D81-DC99-1889-9E64-F6033F06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8B6AD-9212-7FEB-CFE3-F3E14CFE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93A19-BA01-CA22-F22E-732EFB0CE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FDF2F-88B4-F652-05E4-CA5A375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AF91B-DD72-2AA0-29EB-85B6300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C143-07DD-21D1-88BC-58DBC3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502C-7C07-3A37-3440-CFE6877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4A65-9ABA-A4CB-2DD7-5CB25EC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0-613F-64A1-9E19-FCAF8E8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4B99-D02C-E34A-900E-401B4D53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03A9-34DF-1A1A-0FAE-6315B950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D59CC-1CEE-6108-18C9-364D0D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A34D-CFA4-C5D3-2E13-D8862979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679-E51D-0CCA-C05C-4463EE1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7ADE-E05C-21F4-DCE0-A14C75F5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D3006-CFC8-B856-9620-E3B6D8BE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152A-8351-B7BE-2FF4-ECFD17E1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D4CE-EDF4-0C77-DFBD-B16DB10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C1D1-D55C-A862-30A7-9C883B6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2F1-FAF3-F6B1-75BE-9D89225C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378F-FD1A-2C35-6AE0-CE2E78A7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C9C7-AA5D-5148-E367-145C76EB9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CB853-5ABE-2552-6205-942FD79D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9388-4C49-BE88-B847-EE920D61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3087-2BB3-A704-D22E-D242C72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142C-5EF6-2436-9786-E5975AD4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508B-5FD2-4D1F-FD73-B24651E2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5CB0-E5BC-47F5-6035-DBCFE434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356D-EF3B-C45C-A827-E6901EAF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E016-DF99-DC44-C6F3-B22839C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D9BCE-A0F0-4C4F-1D8F-DC958C87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0D40-AC43-C1C8-5C8B-94D803BC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8351-C7F1-1407-53B1-FD03FFC3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0FF2-A8E9-E359-37B4-ED45884B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2B75-6ECC-17A2-20CE-2675B3D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13E8-0655-D862-8DF0-C1E93F7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BFED0-7C94-95B8-C497-12C513EF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7FD-4D5B-4F88-10A6-46C987B1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0-4DCA-41BB-A29D-1D0DE405E1C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7536-CC95-FFEB-5C32-E7F7DA66E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531-DCEC-0275-6210-63850CEA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680-A25A-D894-2D56-B1731FC7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950976"/>
            <a:ext cx="11905488" cy="1664208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PhonePe</a:t>
            </a:r>
            <a:r>
              <a:rPr lang="en-US" b="1" dirty="0"/>
              <a:t> - Digital Payments Transaction &amp; Demographic Analysis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A40268-244F-926E-D357-3F80868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713976" cy="2642616"/>
          </a:xfrm>
        </p:spPr>
        <p:txBody>
          <a:bodyPr/>
          <a:lstStyle/>
          <a:p>
            <a:pPr algn="r"/>
            <a:r>
              <a:rPr lang="en-US" b="1" dirty="0"/>
              <a:t>- A Case Study by Anik Chakraborty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05A0-861D-2947-CCA0-5908C668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0F09E-C56C-B9A9-5AA5-90D959310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F10B6-DEA5-6509-31F8-073D10449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008"/>
            <a:ext cx="12192000" cy="5650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To analyze </a:t>
            </a:r>
            <a:r>
              <a:rPr lang="en-US" sz="1500" b="1" dirty="0"/>
              <a:t>India’s Digital Payments Growth &amp; User Adoption Trends (2018 Q1 – 2021 Q2) </a:t>
            </a:r>
            <a:r>
              <a:rPr lang="en-US" sz="1500" dirty="0"/>
              <a:t> using </a:t>
            </a:r>
            <a:r>
              <a:rPr lang="en-US" sz="1500" dirty="0" err="1"/>
              <a:t>PhonePe</a:t>
            </a:r>
            <a:r>
              <a:rPr lang="en-US" sz="1500" dirty="0"/>
              <a:t> transaction and demographic data.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Transaction Value: 35.63T</a:t>
            </a:r>
            <a:endParaRPr lang="en-US" sz="1500" dirty="0"/>
          </a:p>
          <a:p>
            <a:pPr lvl="1"/>
            <a:r>
              <a:rPr lang="en-US" sz="1500" b="1" dirty="0"/>
              <a:t>Total Transaction Count: 21bn </a:t>
            </a:r>
            <a:endParaRPr lang="en-US" sz="1500" dirty="0"/>
          </a:p>
          <a:p>
            <a:pPr lvl="1"/>
            <a:r>
              <a:rPr lang="en-US" sz="1500" b="1" dirty="0"/>
              <a:t>Average Transaction Value: 1.74K</a:t>
            </a:r>
            <a:endParaRPr lang="en-US" sz="1500" dirty="0"/>
          </a:p>
          <a:p>
            <a:pPr lvl="1"/>
            <a:r>
              <a:rPr lang="en-US" sz="1500" b="1" dirty="0"/>
              <a:t>Total Registered Users: 2bn</a:t>
            </a:r>
            <a:endParaRPr lang="en-US" sz="1500" dirty="0"/>
          </a:p>
          <a:p>
            <a:pPr lvl="1"/>
            <a:r>
              <a:rPr lang="en-US" sz="1500" b="1" dirty="0"/>
              <a:t>Top 10 States by Registered Users</a:t>
            </a:r>
            <a:endParaRPr lang="en-US" sz="1500" dirty="0"/>
          </a:p>
          <a:p>
            <a:pPr lvl="1"/>
            <a:r>
              <a:rPr lang="en-US" sz="1500" b="1" dirty="0"/>
              <a:t>Top 10 Device Brands</a:t>
            </a:r>
            <a:endParaRPr lang="en-US" sz="1500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b="1" dirty="0"/>
              <a:t>2-page Interactive Power BI Dashboard</a:t>
            </a:r>
            <a:endParaRPr lang="en-US" sz="1500" dirty="0"/>
          </a:p>
          <a:p>
            <a:pPr lvl="1"/>
            <a:r>
              <a:rPr lang="en-US" sz="1500" dirty="0"/>
              <a:t>Transaction Trend Analysis</a:t>
            </a:r>
          </a:p>
          <a:p>
            <a:pPr lvl="1"/>
            <a:r>
              <a:rPr lang="en-US" sz="1500" dirty="0"/>
              <a:t>Demographic &amp; Device-Level Insights</a:t>
            </a:r>
          </a:p>
          <a:p>
            <a:pPr lvl="1"/>
            <a:r>
              <a:rPr lang="en-US" sz="1500" dirty="0"/>
              <a:t>State-wise Adoption Breakdown</a:t>
            </a:r>
          </a:p>
        </p:txBody>
      </p:sp>
    </p:spTree>
    <p:extLst>
      <p:ext uri="{BB962C8B-B14F-4D97-AF65-F5344CB8AC3E}">
        <p14:creationId xmlns:p14="http://schemas.microsoft.com/office/powerpoint/2010/main" val="2240656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41C05-4F1F-18F9-4998-AD6BBA0C9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5F64-B61F-7E2C-F8D7-6422B89D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2416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7422A-0FC0-9024-9C25-C80433132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0783"/>
            <a:ext cx="12192000" cy="5157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lvl="1"/>
            <a:r>
              <a:rPr lang="en-US" sz="1500" dirty="0"/>
              <a:t>Strong quarterly growth in digital transactions</a:t>
            </a:r>
          </a:p>
          <a:p>
            <a:pPr lvl="1"/>
            <a:r>
              <a:rPr lang="en-US" sz="1500" dirty="0"/>
              <a:t>Rapid adoption of </a:t>
            </a:r>
            <a:r>
              <a:rPr lang="en-US" sz="1500" b="1" dirty="0"/>
              <a:t>Peer-to-Peer &amp; Merchant Payments</a:t>
            </a:r>
            <a:endParaRPr lang="en-US" sz="1500" dirty="0"/>
          </a:p>
          <a:p>
            <a:pPr lvl="1"/>
            <a:r>
              <a:rPr lang="en-US" sz="1500" dirty="0"/>
              <a:t>Increasing smartphone penetration driving adoption</a:t>
            </a:r>
          </a:p>
          <a:p>
            <a:pPr lvl="1"/>
            <a:r>
              <a:rPr lang="en-US" sz="1500" dirty="0"/>
              <a:t>Expansion across </a:t>
            </a:r>
            <a:r>
              <a:rPr lang="en-US" sz="1500" b="1" dirty="0"/>
              <a:t>36 States &amp; UTs and 723 Districts</a:t>
            </a:r>
            <a:endParaRPr lang="en-US" sz="1500" dirty="0"/>
          </a:p>
          <a:p>
            <a:pPr lvl="1"/>
            <a:r>
              <a:rPr lang="en-US" sz="1500" dirty="0"/>
              <a:t>This project evaluates:</a:t>
            </a:r>
          </a:p>
          <a:p>
            <a:pPr lvl="2"/>
            <a:r>
              <a:rPr lang="en-US" sz="1500" dirty="0"/>
              <a:t>Growth trajectory of transaction value</a:t>
            </a:r>
          </a:p>
          <a:p>
            <a:pPr lvl="2"/>
            <a:r>
              <a:rPr lang="en-US" sz="1500" dirty="0"/>
              <a:t>Category contribution share</a:t>
            </a:r>
          </a:p>
          <a:p>
            <a:pPr lvl="2"/>
            <a:r>
              <a:rPr lang="en-US" sz="1500" dirty="0"/>
              <a:t>Geographic concentration</a:t>
            </a:r>
          </a:p>
          <a:p>
            <a:pPr lvl="2"/>
            <a:r>
              <a:rPr lang="en-US" sz="1500" dirty="0"/>
              <a:t>Device ecosystem dominance</a:t>
            </a:r>
          </a:p>
        </p:txBody>
      </p:sp>
    </p:spTree>
    <p:extLst>
      <p:ext uri="{BB962C8B-B14F-4D97-AF65-F5344CB8AC3E}">
        <p14:creationId xmlns:p14="http://schemas.microsoft.com/office/powerpoint/2010/main" val="114296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3E309-1AE4-9D92-3234-A43AB858A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231BF-F19E-E371-084F-E0D709DD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🗂️ </a:t>
            </a:r>
            <a:r>
              <a:rPr lang="en-US" b="1" dirty="0"/>
              <a:t>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B5E7-BDE2-F398-4F86-AE755CD19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3312"/>
            <a:ext cx="12192000" cy="5504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Data Source:</a:t>
            </a:r>
          </a:p>
          <a:p>
            <a:pPr lvl="1"/>
            <a:r>
              <a:rPr lang="en-US" sz="1400" b="1" dirty="0"/>
              <a:t>Source:</a:t>
            </a:r>
            <a:r>
              <a:rPr lang="en-US" sz="1400" dirty="0"/>
              <a:t> </a:t>
            </a:r>
            <a:r>
              <a:rPr lang="en-US" sz="1400" dirty="0" err="1"/>
              <a:t>PhonePe</a:t>
            </a:r>
            <a:r>
              <a:rPr lang="en-US" sz="1400" dirty="0"/>
              <a:t> Pulse Public Dataset</a:t>
            </a:r>
          </a:p>
          <a:p>
            <a:pPr lvl="1"/>
            <a:r>
              <a:rPr lang="en-US" sz="1400" b="1" dirty="0"/>
              <a:t>Data Type:</a:t>
            </a:r>
            <a:r>
              <a:rPr lang="en-US" sz="1400" dirty="0"/>
              <a:t> Structured Transactional &amp; Demographic Data</a:t>
            </a:r>
          </a:p>
          <a:p>
            <a:pPr lvl="1"/>
            <a:r>
              <a:rPr lang="en-US" sz="1400" b="1" dirty="0"/>
              <a:t>Time Period:</a:t>
            </a:r>
            <a:r>
              <a:rPr lang="en-US" sz="1400" dirty="0"/>
              <a:t> </a:t>
            </a:r>
            <a:r>
              <a:rPr lang="en-US" sz="1400" b="1" dirty="0"/>
              <a:t>2018 Q1 – 2021 Q2</a:t>
            </a: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Data Structure &amp; Metrics:</a:t>
            </a:r>
          </a:p>
          <a:p>
            <a:pPr lvl="1"/>
            <a:r>
              <a:rPr lang="en-US" sz="1400" b="1" dirty="0"/>
              <a:t>Key Index Types:</a:t>
            </a:r>
          </a:p>
          <a:p>
            <a:pPr lvl="2"/>
            <a:r>
              <a:rPr lang="en-US" sz="1400" dirty="0"/>
              <a:t>Year, Quarter</a:t>
            </a:r>
          </a:p>
          <a:p>
            <a:pPr lvl="2"/>
            <a:r>
              <a:rPr lang="en-US" sz="1400" dirty="0"/>
              <a:t>State &amp; UT, District</a:t>
            </a:r>
          </a:p>
          <a:p>
            <a:pPr lvl="2"/>
            <a:r>
              <a:rPr lang="en-US" sz="1400" dirty="0"/>
              <a:t>Transaction Type</a:t>
            </a:r>
          </a:p>
          <a:p>
            <a:pPr lvl="2"/>
            <a:r>
              <a:rPr lang="en-US" sz="1400" dirty="0"/>
              <a:t>Device Brand</a:t>
            </a:r>
          </a:p>
          <a:p>
            <a:pPr lvl="2"/>
            <a:r>
              <a:rPr lang="en-US" sz="1400" dirty="0"/>
              <a:t>Population Bucket</a:t>
            </a:r>
          </a:p>
          <a:p>
            <a:pPr lvl="1"/>
            <a:r>
              <a:rPr lang="en-US" sz="1400" b="1" dirty="0"/>
              <a:t>Categories (Transaction Types):</a:t>
            </a:r>
          </a:p>
          <a:p>
            <a:pPr lvl="2"/>
            <a:r>
              <a:rPr lang="en-US" sz="1400" b="1" dirty="0"/>
              <a:t>Peer-to-peer payments, Merchant payments, Recharge &amp; bill payments, </a:t>
            </a:r>
            <a:r>
              <a:rPr lang="en-US" sz="1400" dirty="0"/>
              <a:t>Financial Services</a:t>
            </a:r>
          </a:p>
          <a:p>
            <a:pPr lvl="2"/>
            <a:r>
              <a:rPr lang="en-US" sz="1400" dirty="0"/>
              <a:t>Others</a:t>
            </a:r>
          </a:p>
          <a:p>
            <a:pPr lvl="1"/>
            <a:r>
              <a:rPr lang="en-US" sz="1400" b="1" dirty="0"/>
              <a:t>Calculated Metrics:</a:t>
            </a:r>
          </a:p>
          <a:p>
            <a:pPr lvl="2"/>
            <a:r>
              <a:rPr lang="en-US" sz="1400" b="1" dirty="0"/>
              <a:t>Total Transaction Value (SUM)</a:t>
            </a:r>
            <a:endParaRPr lang="en-US" sz="1400" dirty="0"/>
          </a:p>
          <a:p>
            <a:pPr lvl="2"/>
            <a:r>
              <a:rPr lang="en-US" sz="1400" b="1" dirty="0"/>
              <a:t>Total Transaction Count (SUM)</a:t>
            </a:r>
            <a:endParaRPr lang="en-US" sz="1400" dirty="0"/>
          </a:p>
          <a:p>
            <a:pPr lvl="2"/>
            <a:r>
              <a:rPr lang="en-US" sz="1400" b="1" dirty="0"/>
              <a:t>Average Transaction Value</a:t>
            </a:r>
            <a:endParaRPr lang="en-US" sz="1400" dirty="0"/>
          </a:p>
          <a:p>
            <a:pPr lvl="2"/>
            <a:r>
              <a:rPr lang="en-US" sz="1400" b="1" dirty="0"/>
              <a:t>Total Registered Users</a:t>
            </a:r>
            <a:endParaRPr lang="en-US" sz="1400" dirty="0"/>
          </a:p>
          <a:p>
            <a:pPr lvl="2"/>
            <a:r>
              <a:rPr lang="en-US" sz="1400" b="1" dirty="0"/>
              <a:t>Top 10 Ranking (States &amp; Device Brands)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57951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11E3-A2A8-7794-5F23-FB02F995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62CC4-E061-AD0B-12AC-E03566054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" y="1536192"/>
            <a:ext cx="12192000" cy="5303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 / CSV</a:t>
            </a:r>
            <a:endParaRPr lang="en-US" sz="1500" dirty="0"/>
          </a:p>
          <a:p>
            <a:pPr lvl="2"/>
            <a:r>
              <a:rPr lang="en-US" sz="1500" dirty="0"/>
              <a:t>Data storage &amp; preprocessing</a:t>
            </a:r>
            <a:endParaRPr lang="en-US" sz="1500" b="1" dirty="0"/>
          </a:p>
          <a:p>
            <a:pPr lvl="1"/>
            <a:r>
              <a:rPr lang="en-US" sz="1500" b="1" dirty="0"/>
              <a:t>Python</a:t>
            </a:r>
          </a:p>
          <a:p>
            <a:pPr lvl="2"/>
            <a:r>
              <a:rPr lang="en-US" sz="1500" dirty="0"/>
              <a:t>Pandas, NumPy, Matplotlib</a:t>
            </a:r>
          </a:p>
          <a:p>
            <a:pPr lvl="1"/>
            <a:r>
              <a:rPr lang="en-US" sz="1500" b="1" dirty="0"/>
              <a:t>Jupyter Notebook</a:t>
            </a:r>
          </a:p>
          <a:p>
            <a:pPr lvl="2"/>
            <a:r>
              <a:rPr lang="en-US" sz="1500" dirty="0"/>
              <a:t> Data cleaning, EDA &amp; visual analysis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  <a:br>
              <a:rPr lang="en-US" sz="1500" dirty="0"/>
            </a:br>
            <a:br>
              <a:rPr lang="en-US" sz="1500" dirty="0"/>
            </a:br>
            <a:br>
              <a:rPr lang="en-US" sz="1500" dirty="0"/>
            </a:b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32828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41B6-B3B2-523E-A6EE-541D84834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16151"/>
          </a:xfrm>
        </p:spPr>
        <p:txBody>
          <a:bodyPr/>
          <a:lstStyle/>
          <a:p>
            <a:r>
              <a:rPr lang="en-US" dirty="0"/>
              <a:t>📈 </a:t>
            </a:r>
            <a:r>
              <a:rPr lang="en-US" b="1" dirty="0"/>
              <a:t>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635A2-BF86-574F-A84C-1D37A0008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456"/>
            <a:ext cx="12192000" cy="54955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Preparation, Process &amp; Analytical Approach:</a:t>
            </a:r>
          </a:p>
          <a:p>
            <a:pPr lvl="1"/>
            <a:r>
              <a:rPr lang="en-US" sz="1400" b="1" dirty="0"/>
              <a:t>Data Preparation &amp; Cleaning:</a:t>
            </a:r>
          </a:p>
          <a:p>
            <a:pPr lvl="2"/>
            <a:r>
              <a:rPr lang="en-US" sz="1400" dirty="0"/>
              <a:t>Standardized naming conventions</a:t>
            </a:r>
          </a:p>
          <a:p>
            <a:pPr lvl="2"/>
            <a:r>
              <a:rPr lang="en-US" sz="1400" dirty="0"/>
              <a:t>Structured Year-Quarter format</a:t>
            </a:r>
          </a:p>
          <a:p>
            <a:pPr lvl="2"/>
            <a:r>
              <a:rPr lang="en-US" sz="1400" dirty="0"/>
              <a:t>Removed inconsistencies</a:t>
            </a:r>
          </a:p>
          <a:p>
            <a:pPr lvl="1"/>
            <a:r>
              <a:rPr lang="en-US" sz="1400" b="1" dirty="0"/>
              <a:t>Data Modeling:</a:t>
            </a:r>
          </a:p>
          <a:p>
            <a:pPr lvl="2"/>
            <a:r>
              <a:rPr lang="en-US" sz="1400" dirty="0"/>
              <a:t>Built relational model between transaction &amp; demographic tables</a:t>
            </a:r>
          </a:p>
          <a:p>
            <a:pPr lvl="2"/>
            <a:r>
              <a:rPr lang="en-US" sz="1400" dirty="0"/>
              <a:t>Time-based relationship for quarterly trend analysis</a:t>
            </a:r>
          </a:p>
          <a:p>
            <a:pPr lvl="1"/>
            <a:r>
              <a:rPr lang="en-US" sz="1400" b="1" dirty="0"/>
              <a:t>Feature Engineering:</a:t>
            </a:r>
          </a:p>
          <a:p>
            <a:pPr lvl="2"/>
            <a:r>
              <a:rPr lang="en-US" sz="1400" dirty="0"/>
              <a:t>Created </a:t>
            </a:r>
            <a:r>
              <a:rPr lang="en-US" sz="1400" b="1" dirty="0"/>
              <a:t>Average Transaction Value = Total Value ÷ Total Count</a:t>
            </a:r>
            <a:endParaRPr lang="en-US" sz="1400" dirty="0"/>
          </a:p>
          <a:p>
            <a:pPr lvl="2"/>
            <a:r>
              <a:rPr lang="en-US" sz="1400" dirty="0"/>
              <a:t>Built </a:t>
            </a:r>
            <a:r>
              <a:rPr lang="en-US" sz="1400" b="1" dirty="0"/>
              <a:t>Top 10 dynamic ranking measures</a:t>
            </a:r>
            <a:endParaRPr lang="en-US" sz="1400" dirty="0"/>
          </a:p>
          <a:p>
            <a:pPr lvl="2"/>
            <a:r>
              <a:rPr lang="en-US" sz="1400" dirty="0"/>
              <a:t>Enabled slicer-based interactivity</a:t>
            </a:r>
          </a:p>
          <a:p>
            <a:pPr lvl="1"/>
            <a:r>
              <a:rPr lang="en-US" sz="1400" b="1" dirty="0"/>
              <a:t>Visualization Design:</a:t>
            </a:r>
          </a:p>
          <a:p>
            <a:pPr lvl="2"/>
            <a:r>
              <a:rPr lang="en-US" sz="1400" dirty="0"/>
              <a:t>KPI Cards for executive summary</a:t>
            </a:r>
          </a:p>
          <a:p>
            <a:pPr lvl="2"/>
            <a:r>
              <a:rPr lang="en-US" sz="1400" b="1" dirty="0"/>
              <a:t>Area Chart for Total Transaction Growth</a:t>
            </a:r>
            <a:endParaRPr lang="en-US" sz="1400" dirty="0"/>
          </a:p>
          <a:p>
            <a:pPr lvl="2"/>
            <a:r>
              <a:rPr lang="en-US" sz="1400" b="1" dirty="0"/>
              <a:t>Donut Chart for Transaction Type Distribution</a:t>
            </a:r>
            <a:endParaRPr lang="en-US" sz="1400" dirty="0"/>
          </a:p>
          <a:p>
            <a:pPr lvl="2"/>
            <a:r>
              <a:rPr lang="en-US" sz="1400" b="1" dirty="0"/>
              <a:t>Bar Charts for Top 10 States &amp; Device Brands</a:t>
            </a:r>
            <a:endParaRPr lang="en-US" sz="1400" dirty="0"/>
          </a:p>
          <a:p>
            <a:pPr lvl="2"/>
            <a:r>
              <a:rPr lang="en-US" sz="1400" dirty="0"/>
              <a:t>Consistent purple corporate theme</a:t>
            </a:r>
          </a:p>
          <a:p>
            <a:pPr lvl="1"/>
            <a:r>
              <a:rPr lang="en-US" sz="1400" b="1" dirty="0"/>
              <a:t>Validation &amp; Formatting:</a:t>
            </a:r>
            <a:endParaRPr lang="en-US" sz="1400" dirty="0"/>
          </a:p>
          <a:p>
            <a:pPr lvl="2"/>
            <a:r>
              <a:rPr lang="en-US" sz="1400" dirty="0"/>
              <a:t>Ensured sorting and KPI consistency</a:t>
            </a:r>
          </a:p>
        </p:txBody>
      </p:sp>
    </p:spTree>
    <p:extLst>
      <p:ext uri="{BB962C8B-B14F-4D97-AF65-F5344CB8AC3E}">
        <p14:creationId xmlns:p14="http://schemas.microsoft.com/office/powerpoint/2010/main" val="218198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B5B7-385A-001C-9ABC-EBA78E04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6F87-DF18-5AE1-0FC7-89A1C41F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80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D71D2-ABCA-6D67-B60E-962812489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2768"/>
            <a:ext cx="12192000" cy="52852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India has witnessed exponential growth in digital payments over the last few years.</a:t>
            </a:r>
          </a:p>
          <a:p>
            <a:pPr marL="0" indent="0">
              <a:buNone/>
            </a:pPr>
            <a:r>
              <a:rPr lang="en-US" sz="1400" dirty="0"/>
              <a:t>This project analyzed over multiple quarters of </a:t>
            </a:r>
            <a:r>
              <a:rPr lang="en-US" sz="1400" dirty="0" err="1"/>
              <a:t>PhonePe</a:t>
            </a:r>
            <a:r>
              <a:rPr lang="en-US" sz="1400" dirty="0"/>
              <a:t> data to answer key business questions — such as whether transaction growth is driven by increasing users or increasing usage per user, which states dominate digital adoption, and how transaction mix varies across regions.</a:t>
            </a:r>
          </a:p>
          <a:p>
            <a:pPr marL="0" indent="0">
              <a:buNone/>
            </a:pPr>
            <a:r>
              <a:rPr lang="en-US" sz="1400" dirty="0"/>
              <a:t>The analysis combines SQL-based exploration with Power BI dashboards to deliver actionable insights.</a:t>
            </a: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Key Questions:</a:t>
            </a:r>
            <a:endParaRPr lang="en-US" altLang="en-US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How has Total Transaction Value grown from 2018 to 2021?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Is user growth consistently increasing quarter-over-quarter?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Are transactions increasing due to more users or higher usage per user?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Are there sudden spikes or seasonal patterns in transaction behavior?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Which transaction type contributes the highest share?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Which transaction categories are growing the fastest?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How diversified is the transaction mix across states?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Which states contribute most to national transaction volume?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Which states show the highest quarter-on-quarter growth?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Which states generate higher transaction value per user?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Are transaction volumes concentrated in a few states or districts?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Which states are emerging markets (low volume, high growth)?</a:t>
            </a:r>
          </a:p>
          <a:p>
            <a:pPr lvl="1"/>
            <a:r>
              <a:rPr lang="en-US" sz="1400" dirty="0"/>
              <a:t>Which device brands dominate user adoption?</a:t>
            </a:r>
          </a:p>
          <a:p>
            <a:pPr lvl="1"/>
            <a:r>
              <a:rPr lang="en-US" sz="1400" dirty="0"/>
              <a:t>Does device brand dominance influence transaction value or behavior?</a:t>
            </a:r>
          </a:p>
          <a:p>
            <a:pPr lvl="1"/>
            <a:r>
              <a:rPr lang="en-US" sz="1400" dirty="0"/>
              <a:t>How does population density impact digital payment adoption?</a:t>
            </a:r>
          </a:p>
        </p:txBody>
      </p:sp>
    </p:spTree>
    <p:extLst>
      <p:ext uri="{BB962C8B-B14F-4D97-AF65-F5344CB8AC3E}">
        <p14:creationId xmlns:p14="http://schemas.microsoft.com/office/powerpoint/2010/main" val="103117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7E577-2B86-C564-14EB-D400F7E5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1737A-7469-A45C-89DC-D3ADD9657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4CCC3-91A6-23AA-28FD-3DC132AF9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3976"/>
            <a:ext cx="12192000" cy="47640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Top Findings:</a:t>
            </a:r>
          </a:p>
          <a:p>
            <a:pPr lvl="1"/>
            <a:r>
              <a:rPr lang="en-US" sz="1400" b="1" dirty="0"/>
              <a:t>Strong &amp; Consistent Transaction Growth. </a:t>
            </a:r>
            <a:r>
              <a:rPr lang="en-US" sz="1400" dirty="0"/>
              <a:t>Digital transaction value increased steadily from </a:t>
            </a:r>
            <a:r>
              <a:rPr lang="en-US" sz="1400" b="1" dirty="0"/>
              <a:t>2018 Q1 to 2021 Q2</a:t>
            </a:r>
            <a:r>
              <a:rPr lang="en-US" sz="1400" dirty="0"/>
              <a:t>, indicating sustained adoption momentum. </a:t>
            </a:r>
          </a:p>
          <a:p>
            <a:pPr lvl="1"/>
            <a:r>
              <a:rPr lang="en-US" sz="1400" b="1" dirty="0"/>
              <a:t>Peer-to-Peer Payments Dominate the Ecosystem. </a:t>
            </a:r>
            <a:r>
              <a:rPr lang="en-US" sz="1400" dirty="0"/>
              <a:t>Peer-to-peer transactions contribute the largest share of total transaction value, followed by merchant payments.</a:t>
            </a:r>
          </a:p>
          <a:p>
            <a:pPr lvl="1"/>
            <a:r>
              <a:rPr lang="en-US" sz="1400" b="1" dirty="0"/>
              <a:t>Transaction Volume is Geographically Concentrated. </a:t>
            </a:r>
            <a:r>
              <a:rPr lang="en-US" sz="1400" dirty="0"/>
              <a:t>A small group of high-population states contributes the majority of national transaction volume.</a:t>
            </a:r>
          </a:p>
          <a:p>
            <a:pPr lvl="1"/>
            <a:r>
              <a:rPr lang="en-US" sz="1400" b="1" dirty="0"/>
              <a:t>Growth is Driven by Both User Expansion &amp; Usage Intensity. </a:t>
            </a:r>
            <a:r>
              <a:rPr lang="en-US" sz="1400" dirty="0"/>
              <a:t>Transaction growth is not only due to rising registered users but also increasing transaction frequency per user.</a:t>
            </a:r>
          </a:p>
          <a:p>
            <a:pPr lvl="1"/>
            <a:r>
              <a:rPr lang="en-US" sz="1400" b="1" dirty="0"/>
              <a:t>Device Ecosystem Influences Adoption. </a:t>
            </a:r>
            <a:r>
              <a:rPr lang="en-US" sz="1400" dirty="0"/>
              <a:t>A few smartphone brands dominate user registration, suggesting device accessibility plays a critical role in digital payment penetration.</a:t>
            </a:r>
          </a:p>
          <a:p>
            <a:pPr lvl="1"/>
            <a:r>
              <a:rPr lang="en-US" sz="1400" b="1" dirty="0"/>
              <a:t>Emerging High-Growth States Identified. </a:t>
            </a:r>
            <a:r>
              <a:rPr lang="en-US" sz="1400" dirty="0"/>
              <a:t>Certain states show lower absolute volume but strong quarter-on-quarter growth, indicating future expansion markets.</a:t>
            </a:r>
          </a:p>
          <a:p>
            <a:pPr marL="0" indent="0">
              <a:buNone/>
            </a:pPr>
            <a:r>
              <a:rPr lang="en-US" sz="1400" b="1" dirty="0"/>
              <a:t>Supporting Metrics: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Total Transaction Value: 35.63T</a:t>
            </a:r>
            <a:endParaRPr lang="en-US" altLang="en-US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Total Transaction Count: 21bn</a:t>
            </a:r>
            <a:endParaRPr lang="en-US" altLang="en-US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Average Transaction Value: 1.74K</a:t>
            </a:r>
            <a:endParaRPr lang="en-US" altLang="en-US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Total Registered Users: 2bn</a:t>
            </a:r>
            <a:endParaRPr lang="en-US" altLang="en-US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Peer-to-Peer Share: ~44.62% </a:t>
            </a:r>
            <a:endParaRPr lang="en-US" altLang="en-US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Merchant Payment Share: ~33.89% </a:t>
            </a:r>
            <a:endParaRPr lang="en-US" altLang="en-US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Highest Registered Users: Maharashtra – (~0.32bn)</a:t>
            </a:r>
            <a:endParaRPr lang="en-US" altLang="en-US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Highest Device Adoption:  Xiaomi –  (~0.62bn Users)</a:t>
            </a:r>
            <a:endParaRPr lang="en-US" altLang="en-US" sz="1400" dirty="0"/>
          </a:p>
          <a:p>
            <a:pPr marL="457200" lvl="1" indent="0">
              <a:buNone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3212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81B5-C578-E115-D4EE-3B5B5CC6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3F1E8-B7D8-C1FF-1F55-3E5F6C36A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20824"/>
            <a:ext cx="12192000" cy="4837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digital payments ecosystem shows:</a:t>
            </a:r>
          </a:p>
          <a:p>
            <a:pPr lvl="1"/>
            <a:r>
              <a:rPr lang="en-US" sz="1500" b="1" dirty="0"/>
              <a:t>Strong and consistent quarterly growth</a:t>
            </a:r>
            <a:endParaRPr lang="en-US" sz="1500" dirty="0"/>
          </a:p>
          <a:p>
            <a:pPr lvl="1"/>
            <a:r>
              <a:rPr lang="en-US" sz="1500" dirty="0"/>
              <a:t>High concentration of users in top-performing states</a:t>
            </a:r>
          </a:p>
          <a:p>
            <a:pPr lvl="1"/>
            <a:r>
              <a:rPr lang="en-US" sz="1500" dirty="0"/>
              <a:t>Device ecosystem significantly influencing adoption</a:t>
            </a:r>
          </a:p>
          <a:p>
            <a:pPr lvl="1"/>
            <a:r>
              <a:rPr lang="en-US" sz="1500" dirty="0"/>
              <a:t>Dominance of </a:t>
            </a:r>
            <a:r>
              <a:rPr lang="en-US" sz="1500" b="1" dirty="0"/>
              <a:t>Peer-to-Peer &amp; Merchant Payments</a:t>
            </a:r>
            <a:endParaRPr lang="en-US" sz="1500" dirty="0"/>
          </a:p>
          <a:p>
            <a:pPr lvl="1"/>
            <a:r>
              <a:rPr lang="en-US" sz="1500" dirty="0"/>
              <a:t>The data reflects a scalable and expanding digital economy.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93093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E8F-1C7D-473A-67DC-0702E54E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7CD5-1967-34C2-0596-52403C52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sz="4000" b="1" dirty="0"/>
              <a:t>🖥️ Dashboard Overview (1) – Transaction Performance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3825B29-4CDF-001E-A616-4858AE69A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5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8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3C93-9CE2-F428-1842-837A8776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sz="4000" dirty="0"/>
              <a:t>🖥️ </a:t>
            </a:r>
            <a:r>
              <a:rPr lang="en-US" sz="4000" b="1" dirty="0"/>
              <a:t>Dashboard Overview (2) – Demographic Analysis</a:t>
            </a:r>
            <a:endParaRPr lang="en-US" sz="40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B881F88-CF9B-17A2-58D7-BCF6C0A4B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5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6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734F2-CCF8-1D96-9B31-A883DBC0A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40A08F9-E9B1-6094-2457-B4E885BA8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362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B9FD2F-9969-18D8-87D0-BF23E6D958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885780"/>
            <a:ext cx="12192000" cy="4337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1500" b="1" dirty="0"/>
              <a:t>Identify high-growth states for market expansion</a:t>
            </a:r>
            <a:endParaRPr lang="en-US" sz="1500" dirty="0"/>
          </a:p>
          <a:p>
            <a:pPr lvl="2"/>
            <a:r>
              <a:rPr lang="en-US" sz="1500" dirty="0"/>
              <a:t>Detect emerging states with </a:t>
            </a:r>
            <a:r>
              <a:rPr lang="en-US" sz="1500" b="1" dirty="0"/>
              <a:t>strong quarter-on-quarter growth</a:t>
            </a:r>
            <a:endParaRPr lang="en-US" sz="1500" dirty="0"/>
          </a:p>
          <a:p>
            <a:pPr lvl="2"/>
            <a:r>
              <a:rPr lang="en-US" sz="1500" dirty="0"/>
              <a:t>Prioritize regions with increasing transaction value per user</a:t>
            </a:r>
          </a:p>
          <a:p>
            <a:pPr lvl="1"/>
            <a:r>
              <a:rPr lang="en-US" sz="1500" b="1" dirty="0"/>
              <a:t>Optimize marketing campaigns by dominant device segments</a:t>
            </a:r>
            <a:endParaRPr lang="en-US" sz="1500" dirty="0"/>
          </a:p>
          <a:p>
            <a:pPr lvl="2"/>
            <a:r>
              <a:rPr lang="en-US" sz="1500" dirty="0"/>
              <a:t>Align promotional strategies with high-adoption smartphone brands</a:t>
            </a:r>
          </a:p>
          <a:p>
            <a:pPr lvl="2"/>
            <a:r>
              <a:rPr lang="en-US" sz="1500" dirty="0"/>
              <a:t>Improve ROI through data-backed customer segmentation</a:t>
            </a:r>
          </a:p>
          <a:p>
            <a:pPr lvl="1"/>
            <a:r>
              <a:rPr lang="en-US" sz="1500" b="1" dirty="0"/>
              <a:t>Track category-wise transaction performance trends</a:t>
            </a:r>
            <a:endParaRPr lang="en-US" sz="1500" dirty="0"/>
          </a:p>
          <a:p>
            <a:pPr lvl="2"/>
            <a:r>
              <a:rPr lang="en-US" sz="1500" dirty="0"/>
              <a:t>Monitor growth of peer-to-peer vs merchant payments</a:t>
            </a:r>
          </a:p>
          <a:p>
            <a:pPr lvl="2"/>
            <a:r>
              <a:rPr lang="en-US" sz="1500" dirty="0"/>
              <a:t>Identify shifts in transaction mix over time</a:t>
            </a:r>
          </a:p>
          <a:p>
            <a:pPr lvl="1"/>
            <a:r>
              <a:rPr lang="en-US" sz="1500" b="1" dirty="0"/>
              <a:t>Support fintech investment decisions using state-level performance data</a:t>
            </a:r>
            <a:endParaRPr lang="en-US" sz="1500" dirty="0"/>
          </a:p>
          <a:p>
            <a:pPr lvl="2"/>
            <a:r>
              <a:rPr lang="en-US" sz="1500" dirty="0"/>
              <a:t>Identify high-value markets contributing most to national volume</a:t>
            </a:r>
          </a:p>
          <a:p>
            <a:pPr lvl="2"/>
            <a:r>
              <a:rPr lang="en-US" sz="1500" dirty="0"/>
              <a:t>Detect underpenetrated but fast-growing regions</a:t>
            </a:r>
            <a:endParaRPr lang="en-US" sz="1500" b="1" dirty="0"/>
          </a:p>
          <a:p>
            <a:pPr lvl="1"/>
            <a:r>
              <a:rPr lang="en-US" sz="1500" b="1" dirty="0"/>
              <a:t>Enable data-driven regional targeting</a:t>
            </a:r>
            <a:endParaRPr lang="en-US" sz="1500" dirty="0"/>
          </a:p>
          <a:p>
            <a:pPr lvl="2"/>
            <a:r>
              <a:rPr lang="en-US" sz="1500" dirty="0"/>
              <a:t>Understand geographic concentration of transaction activity</a:t>
            </a:r>
          </a:p>
          <a:p>
            <a:pPr lvl="2"/>
            <a:r>
              <a:rPr lang="en-US" sz="1500" dirty="0"/>
              <a:t>Guide localized product and partnership strategies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322310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4EA-C6C0-AD7A-DFE4-7B107D7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2143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620C-3B01-BD8D-C488-C2363A93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760"/>
            <a:ext cx="12192000" cy="53492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27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DE7D-CAB5-CBBB-05B8-C656AA0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99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6752</TotalTime>
  <Words>1041</Words>
  <Application>Microsoft Office PowerPoint</Application>
  <PresentationFormat>Widescreen</PresentationFormat>
  <Paragraphs>164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PhonePe - Digital Payments Transaction &amp; Demographic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📍Conclusion</vt:lpstr>
      <vt:lpstr>🖥️ Dashboard Overview (1) – Transaction Performance</vt:lpstr>
      <vt:lpstr>🖥️ Dashboard Overview (2) – Demographic Analysis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63</cp:revision>
  <dcterms:created xsi:type="dcterms:W3CDTF">2025-10-10T07:10:37Z</dcterms:created>
  <dcterms:modified xsi:type="dcterms:W3CDTF">2026-03-06T01:39:27Z</dcterms:modified>
</cp:coreProperties>
</file>