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80" r:id="rId3"/>
    <p:sldId id="281" r:id="rId4"/>
    <p:sldId id="282" r:id="rId5"/>
    <p:sldId id="260" r:id="rId6"/>
    <p:sldId id="272" r:id="rId7"/>
    <p:sldId id="278" r:id="rId8"/>
    <p:sldId id="279" r:id="rId9"/>
    <p:sldId id="262" r:id="rId10"/>
    <p:sldId id="273" r:id="rId11"/>
    <p:sldId id="264" r:id="rId12"/>
    <p:sldId id="283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19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98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E4F6C-D6F4-8FB5-FF73-8F91FCB3E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3E266E-CFA8-F05A-05AD-D3258519C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737B71-408E-DA9D-9E95-8AD5B5015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5EA00-E366-5A79-0893-A91E7A61BF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00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950976"/>
            <a:ext cx="11905488" cy="1664208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PhonePe</a:t>
            </a:r>
            <a:r>
              <a:rPr lang="en-US" b="1" dirty="0"/>
              <a:t> - Digital Payments Transaction &amp; Demographic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705A0-861D-2947-CCA0-5908C668C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0F09E-C56C-B9A9-5AA5-90D959310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F10B6-DEA5-6509-31F8-073D10449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Project Purpose:</a:t>
            </a:r>
          </a:p>
          <a:p>
            <a:pPr lvl="1"/>
            <a:r>
              <a:rPr lang="en-US" sz="1500" dirty="0"/>
              <a:t>To analyze </a:t>
            </a:r>
            <a:r>
              <a:rPr lang="en-US" sz="1500" b="1" dirty="0"/>
              <a:t>India’s Digital Payments Growth &amp; User Adoption Trends (2018 Q1 – 2021 Q2) </a:t>
            </a:r>
            <a:r>
              <a:rPr lang="en-US" sz="1500" dirty="0"/>
              <a:t> using </a:t>
            </a:r>
            <a:r>
              <a:rPr lang="en-US" sz="1500" dirty="0" err="1"/>
              <a:t>PhonePe</a:t>
            </a:r>
            <a:r>
              <a:rPr lang="en-US" sz="1500" dirty="0"/>
              <a:t> transaction and demographic data.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KPIs:</a:t>
            </a:r>
          </a:p>
          <a:p>
            <a:pPr lvl="1"/>
            <a:r>
              <a:rPr lang="en-US" sz="1500" b="1" dirty="0"/>
              <a:t>Total Transaction Value: 35.63T</a:t>
            </a:r>
            <a:endParaRPr lang="en-US" sz="1500" dirty="0"/>
          </a:p>
          <a:p>
            <a:pPr lvl="1"/>
            <a:r>
              <a:rPr lang="en-US" sz="1500" b="1" dirty="0"/>
              <a:t>Total Transaction Count: 21bn </a:t>
            </a:r>
            <a:endParaRPr lang="en-US" sz="1500" dirty="0"/>
          </a:p>
          <a:p>
            <a:pPr lvl="1"/>
            <a:r>
              <a:rPr lang="en-US" sz="1500" b="1" dirty="0"/>
              <a:t>Average Transaction Value: 1.74K</a:t>
            </a:r>
            <a:endParaRPr lang="en-US" sz="1500" dirty="0"/>
          </a:p>
          <a:p>
            <a:pPr lvl="1"/>
            <a:r>
              <a:rPr lang="en-US" sz="1500" b="1" dirty="0"/>
              <a:t>Total Registered Users: 2bn</a:t>
            </a:r>
            <a:endParaRPr lang="en-US" sz="1500" dirty="0"/>
          </a:p>
          <a:p>
            <a:pPr lvl="1"/>
            <a:r>
              <a:rPr lang="en-US" sz="1500" b="1" dirty="0"/>
              <a:t>Top 10 States by Registered Users</a:t>
            </a:r>
            <a:endParaRPr lang="en-US" sz="1500" dirty="0"/>
          </a:p>
          <a:p>
            <a:pPr lvl="1"/>
            <a:r>
              <a:rPr lang="en-US" sz="1500" b="1" dirty="0"/>
              <a:t>Top 10 Device Brands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</a:p>
          <a:p>
            <a:pPr lvl="1"/>
            <a:r>
              <a:rPr lang="en-US" sz="1500" b="1" dirty="0"/>
              <a:t>2-page Interactive Power BI Dashboard</a:t>
            </a:r>
            <a:endParaRPr lang="en-US" sz="1500" dirty="0"/>
          </a:p>
          <a:p>
            <a:pPr lvl="1"/>
            <a:r>
              <a:rPr lang="en-US" sz="1500" dirty="0"/>
              <a:t>Transaction Trend Analysis</a:t>
            </a:r>
          </a:p>
          <a:p>
            <a:pPr lvl="1"/>
            <a:r>
              <a:rPr lang="en-US" sz="1500" dirty="0"/>
              <a:t>Demographic &amp; Device-Level Insights</a:t>
            </a:r>
          </a:p>
          <a:p>
            <a:pPr lvl="1"/>
            <a:r>
              <a:rPr lang="en-US" sz="1500" dirty="0"/>
              <a:t>State-wise Adoption Breakdown</a:t>
            </a:r>
          </a:p>
        </p:txBody>
      </p:sp>
    </p:spTree>
    <p:extLst>
      <p:ext uri="{BB962C8B-B14F-4D97-AF65-F5344CB8AC3E}">
        <p14:creationId xmlns:p14="http://schemas.microsoft.com/office/powerpoint/2010/main" val="2240656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41C05-4F1F-18F9-4998-AD6BBA0C9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55F64-B61F-7E2C-F8D7-6422B89D5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7422A-0FC0-9024-9C25-C8043313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r>
              <a:rPr lang="en-US" sz="1500" dirty="0"/>
              <a:t>Strong quarterly growth in digital transactions</a:t>
            </a:r>
          </a:p>
          <a:p>
            <a:pPr lvl="1"/>
            <a:r>
              <a:rPr lang="en-US" sz="1500" dirty="0"/>
              <a:t>Rapid adoption of </a:t>
            </a:r>
            <a:r>
              <a:rPr lang="en-US" sz="1500" b="1" dirty="0"/>
              <a:t>Peer-to-Peer &amp; Merchant Payments</a:t>
            </a:r>
            <a:endParaRPr lang="en-US" sz="1500" dirty="0"/>
          </a:p>
          <a:p>
            <a:pPr lvl="1"/>
            <a:r>
              <a:rPr lang="en-US" sz="1500" dirty="0"/>
              <a:t>Increasing smartphone penetration driving adoption</a:t>
            </a:r>
          </a:p>
          <a:p>
            <a:pPr lvl="1"/>
            <a:r>
              <a:rPr lang="en-US" sz="1500" dirty="0"/>
              <a:t>Expansion across </a:t>
            </a:r>
            <a:r>
              <a:rPr lang="en-US" sz="1500" b="1" dirty="0"/>
              <a:t>36 States &amp; UTs and 723 Districts</a:t>
            </a:r>
            <a:endParaRPr lang="en-US" sz="1500" dirty="0"/>
          </a:p>
          <a:p>
            <a:pPr lvl="1"/>
            <a:r>
              <a:rPr lang="en-US" sz="1500" dirty="0"/>
              <a:t>This project evaluates:</a:t>
            </a:r>
          </a:p>
          <a:p>
            <a:pPr lvl="2"/>
            <a:r>
              <a:rPr lang="en-US" sz="1500" dirty="0"/>
              <a:t>Growth trajectory of transaction value</a:t>
            </a:r>
          </a:p>
          <a:p>
            <a:pPr lvl="2"/>
            <a:r>
              <a:rPr lang="en-US" sz="1500" dirty="0"/>
              <a:t>Category contribution share</a:t>
            </a:r>
          </a:p>
          <a:p>
            <a:pPr lvl="2"/>
            <a:r>
              <a:rPr lang="en-US" sz="1500" dirty="0"/>
              <a:t>Geographic concentration</a:t>
            </a:r>
          </a:p>
          <a:p>
            <a:pPr lvl="2"/>
            <a:r>
              <a:rPr lang="en-US" sz="1500" dirty="0"/>
              <a:t>Device ecosystem dominance</a:t>
            </a:r>
          </a:p>
        </p:txBody>
      </p:sp>
    </p:spTree>
    <p:extLst>
      <p:ext uri="{BB962C8B-B14F-4D97-AF65-F5344CB8AC3E}">
        <p14:creationId xmlns:p14="http://schemas.microsoft.com/office/powerpoint/2010/main" val="1142967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3E309-1AE4-9D92-3234-A43AB858A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231BF-F19E-E371-084F-E0D709DD2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B5E7-BDE2-F398-4F86-AE755CD19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Source:</a:t>
            </a:r>
          </a:p>
          <a:p>
            <a:pPr lvl="1"/>
            <a:r>
              <a:rPr lang="en-US" sz="1400" b="1" dirty="0"/>
              <a:t>Source:</a:t>
            </a:r>
            <a:r>
              <a:rPr lang="en-US" sz="1400" dirty="0"/>
              <a:t> </a:t>
            </a:r>
            <a:r>
              <a:rPr lang="en-US" sz="1400" dirty="0" err="1"/>
              <a:t>PhonePe</a:t>
            </a:r>
            <a:r>
              <a:rPr lang="en-US" sz="1400" dirty="0"/>
              <a:t> Pulse Public Dataset</a:t>
            </a:r>
          </a:p>
          <a:p>
            <a:pPr lvl="1"/>
            <a:r>
              <a:rPr lang="en-US" sz="1400" b="1" dirty="0"/>
              <a:t>Data Type:</a:t>
            </a:r>
            <a:r>
              <a:rPr lang="en-US" sz="1400" dirty="0"/>
              <a:t> Structured Transactional &amp; Demographic Data</a:t>
            </a:r>
          </a:p>
          <a:p>
            <a:pPr lvl="1"/>
            <a:r>
              <a:rPr lang="en-US" sz="1400" b="1" dirty="0"/>
              <a:t>Time Period:</a:t>
            </a:r>
            <a:r>
              <a:rPr lang="en-US" sz="1400" dirty="0"/>
              <a:t> </a:t>
            </a:r>
            <a:r>
              <a:rPr lang="en-US" sz="1400" b="1" dirty="0"/>
              <a:t>2018 Q1 – 2021 Q2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Data Structure &amp; Metrics:</a:t>
            </a:r>
          </a:p>
          <a:p>
            <a:pPr lvl="1"/>
            <a:r>
              <a:rPr lang="en-US" sz="1400" b="1" dirty="0"/>
              <a:t>Key Index Types:</a:t>
            </a:r>
          </a:p>
          <a:p>
            <a:pPr lvl="2"/>
            <a:r>
              <a:rPr lang="en-US" sz="1400" dirty="0"/>
              <a:t>Year, Quarter</a:t>
            </a:r>
          </a:p>
          <a:p>
            <a:pPr lvl="2"/>
            <a:r>
              <a:rPr lang="en-US" sz="1400" dirty="0"/>
              <a:t>State &amp; UT, District</a:t>
            </a:r>
          </a:p>
          <a:p>
            <a:pPr lvl="2"/>
            <a:r>
              <a:rPr lang="en-US" sz="1400" dirty="0"/>
              <a:t>Transaction Type</a:t>
            </a:r>
          </a:p>
          <a:p>
            <a:pPr lvl="2"/>
            <a:r>
              <a:rPr lang="en-US" sz="1400" dirty="0"/>
              <a:t>Device Brand</a:t>
            </a:r>
          </a:p>
          <a:p>
            <a:pPr lvl="2"/>
            <a:r>
              <a:rPr lang="en-US" sz="1400" dirty="0"/>
              <a:t>Population Bucket</a:t>
            </a:r>
          </a:p>
          <a:p>
            <a:pPr lvl="1"/>
            <a:r>
              <a:rPr lang="en-US" sz="1400" b="1" dirty="0"/>
              <a:t>Categories:</a:t>
            </a:r>
          </a:p>
          <a:p>
            <a:pPr lvl="2"/>
            <a:r>
              <a:rPr lang="en-US" sz="1400" b="1" dirty="0"/>
              <a:t>Peer-to-peer payments, Merchant payments, Recharge &amp; bill payments, </a:t>
            </a:r>
            <a:r>
              <a:rPr lang="en-US" sz="1400" dirty="0"/>
              <a:t>Financial Services</a:t>
            </a:r>
          </a:p>
          <a:p>
            <a:pPr lvl="2"/>
            <a:r>
              <a:rPr lang="en-US" sz="1400" dirty="0"/>
              <a:t>Others</a:t>
            </a:r>
          </a:p>
          <a:p>
            <a:pPr lvl="1"/>
            <a:r>
              <a:rPr lang="en-US" sz="1400" b="1" dirty="0"/>
              <a:t>Calculated Metrics:</a:t>
            </a:r>
          </a:p>
          <a:p>
            <a:pPr lvl="2"/>
            <a:r>
              <a:rPr lang="en-US" sz="1400" b="1" dirty="0"/>
              <a:t>Total Transaction Value (SUM)</a:t>
            </a:r>
            <a:endParaRPr lang="en-US" sz="1400" dirty="0"/>
          </a:p>
          <a:p>
            <a:pPr lvl="2"/>
            <a:r>
              <a:rPr lang="en-US" sz="1400" b="1" dirty="0"/>
              <a:t>Total Transaction Count (SUM)</a:t>
            </a:r>
            <a:endParaRPr lang="en-US" sz="1400" dirty="0"/>
          </a:p>
          <a:p>
            <a:pPr lvl="2"/>
            <a:r>
              <a:rPr lang="en-US" sz="1400" b="1" dirty="0"/>
              <a:t>Average Transaction Value</a:t>
            </a:r>
            <a:endParaRPr lang="en-US" sz="1400" dirty="0"/>
          </a:p>
          <a:p>
            <a:pPr lvl="2"/>
            <a:r>
              <a:rPr lang="en-US" sz="1400" b="1" dirty="0"/>
              <a:t>Total Registered Users</a:t>
            </a:r>
            <a:endParaRPr lang="en-US" sz="1400" dirty="0"/>
          </a:p>
          <a:p>
            <a:pPr lvl="2"/>
            <a:r>
              <a:rPr lang="en-US" sz="1400" b="1" dirty="0"/>
              <a:t>Top 10 Ranking (States &amp; Device Brands)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7951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storage &amp; preprocessing</a:t>
            </a:r>
            <a:endParaRPr lang="en-US" sz="1500" b="1" dirty="0"/>
          </a:p>
          <a:p>
            <a:pPr lvl="1"/>
            <a:r>
              <a:rPr lang="en-US" sz="1500" b="1" dirty="0"/>
              <a:t>Python</a:t>
            </a:r>
          </a:p>
          <a:p>
            <a:pPr lvl="2"/>
            <a:r>
              <a:rPr lang="en-US" sz="1500" dirty="0"/>
              <a:t>Pandas, NumPy, Matplotlib</a:t>
            </a:r>
          </a:p>
          <a:p>
            <a:pPr lvl="1"/>
            <a:r>
              <a:rPr lang="en-US" sz="1500" b="1" dirty="0"/>
              <a:t>Jupyter Notebook</a:t>
            </a:r>
          </a:p>
          <a:p>
            <a:pPr lvl="2"/>
            <a:r>
              <a:rPr lang="en-US" sz="1500" dirty="0"/>
              <a:t> Data cleaning, EDA &amp; visual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Dashboard &amp; Visualization      </a:t>
            </a:r>
          </a:p>
          <a:p>
            <a:pPr lvl="2"/>
            <a:r>
              <a:rPr lang="en-US" sz="1500" dirty="0"/>
              <a:t>Data Modeling &amp; Relationship Building     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KPI Calculations Columns &amp; Measures     </a:t>
            </a:r>
          </a:p>
          <a:p>
            <a:pPr lvl="2"/>
            <a:r>
              <a:rPr lang="en-US" sz="1500" dirty="0"/>
              <a:t>Slicers &amp; Dynamic Filtering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  <a:br>
              <a:rPr lang="en-US" sz="1500" dirty="0"/>
            </a:br>
            <a:br>
              <a:rPr lang="en-US" sz="1500" dirty="0"/>
            </a:br>
            <a:br>
              <a:rPr lang="en-US" sz="1500" dirty="0"/>
            </a:b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Standardized naming conventions</a:t>
            </a:r>
          </a:p>
          <a:p>
            <a:pPr lvl="2"/>
            <a:r>
              <a:rPr lang="en-US" sz="1400" dirty="0"/>
              <a:t>Structured Year-Quarter format</a:t>
            </a:r>
          </a:p>
          <a:p>
            <a:pPr lvl="2"/>
            <a:r>
              <a:rPr lang="en-US" sz="1400" dirty="0"/>
              <a:t>Removed inconsistencies</a:t>
            </a:r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Built relational model between transaction &amp; demographic tables</a:t>
            </a:r>
          </a:p>
          <a:p>
            <a:pPr lvl="2"/>
            <a:r>
              <a:rPr lang="en-US" sz="1400" dirty="0"/>
              <a:t>Time-based relationship for quarterly trend analysis</a:t>
            </a:r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Created </a:t>
            </a:r>
            <a:r>
              <a:rPr lang="en-US" sz="1400" b="1" dirty="0"/>
              <a:t>Average Transaction Value = Total Value ÷ Total Count</a:t>
            </a:r>
            <a:endParaRPr lang="en-US" sz="1400" dirty="0"/>
          </a:p>
          <a:p>
            <a:pPr lvl="2"/>
            <a:r>
              <a:rPr lang="en-US" sz="1400" dirty="0"/>
              <a:t>Built </a:t>
            </a:r>
            <a:r>
              <a:rPr lang="en-US" sz="1400" b="1" dirty="0"/>
              <a:t>Top 10 dynamic ranking measures</a:t>
            </a:r>
            <a:endParaRPr lang="en-US" sz="1400" dirty="0"/>
          </a:p>
          <a:p>
            <a:pPr lvl="2"/>
            <a:r>
              <a:rPr lang="en-US" sz="1400" dirty="0"/>
              <a:t>Enabled slicer-based interactivity</a:t>
            </a:r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KPI Cards for executive summary</a:t>
            </a:r>
          </a:p>
          <a:p>
            <a:pPr lvl="2"/>
            <a:r>
              <a:rPr lang="en-US" sz="1400" b="1" dirty="0"/>
              <a:t>Area Chart for Total Transaction Growth</a:t>
            </a:r>
            <a:endParaRPr lang="en-US" sz="1400" dirty="0"/>
          </a:p>
          <a:p>
            <a:pPr lvl="2"/>
            <a:r>
              <a:rPr lang="en-US" sz="1400" b="1" dirty="0"/>
              <a:t>Donut Chart for Transaction Type Distribution</a:t>
            </a:r>
            <a:endParaRPr lang="en-US" sz="1400" dirty="0"/>
          </a:p>
          <a:p>
            <a:pPr lvl="2"/>
            <a:r>
              <a:rPr lang="en-US" sz="1400" b="1" dirty="0"/>
              <a:t>Bar Charts for Top 10 States &amp; Device Brands</a:t>
            </a:r>
            <a:endParaRPr lang="en-US" sz="1400" dirty="0"/>
          </a:p>
          <a:p>
            <a:pPr lvl="2"/>
            <a:r>
              <a:rPr lang="en-US" sz="1400" dirty="0"/>
              <a:t>Consistent purple corporate theme</a:t>
            </a:r>
          </a:p>
          <a:p>
            <a:pPr lvl="1"/>
            <a:r>
              <a:rPr lang="en-US" sz="1400" b="1" dirty="0"/>
              <a:t>Validation &amp; Formatting:</a:t>
            </a:r>
            <a:endParaRPr lang="en-US" sz="1400" dirty="0"/>
          </a:p>
          <a:p>
            <a:pPr lvl="2"/>
            <a:r>
              <a:rPr lang="en-US" sz="1400" dirty="0"/>
              <a:t>Ensured sorting and KPI consistency</a:t>
            </a:r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dirty="0"/>
              <a:t>India has witnessed exponential growth in digital payments over the last few years.</a:t>
            </a:r>
          </a:p>
          <a:p>
            <a:pPr marL="0" indent="0">
              <a:buNone/>
            </a:pPr>
            <a:r>
              <a:rPr lang="en-US" sz="1400" dirty="0"/>
              <a:t>This project analyzed over multiple quarters of </a:t>
            </a:r>
            <a:r>
              <a:rPr lang="en-US" sz="1400" dirty="0" err="1"/>
              <a:t>PhonePe</a:t>
            </a:r>
            <a:r>
              <a:rPr lang="en-US" sz="1400" dirty="0"/>
              <a:t> data to answer key business questions — such as whether transaction growth is driven by increasing users or increasing usage per user, which states dominate digital adoption, and how transaction mix varies across regions.</a:t>
            </a:r>
          </a:p>
          <a:p>
            <a:pPr marL="0" indent="0">
              <a:buNone/>
            </a:pPr>
            <a:r>
              <a:rPr lang="en-US" sz="1400" dirty="0"/>
              <a:t>The analysis combines SQL-based exploration with Power BI dashboards to deliver actionable insights.</a:t>
            </a: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Key Questions: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How has Total Transaction Value grown from 2018 to 2021?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Is user growth consistently increasing quarter-over-quarter?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Are transactions increasing due to more users or higher usage per user?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Are there sudden spikes or seasonal patterns in transaction behavior?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transaction type contributes the highest share?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transaction categories are growing the fastest?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How diversified is the transaction mix across states?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states contribute most to national transaction volume?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states show the highest quarter-on-quarter growth?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states generate higher transaction value per user?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Are transaction volumes concentrated in a few states or districts?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Which states are emerging markets (low volume, high growth)?</a:t>
            </a:r>
          </a:p>
          <a:p>
            <a:pPr lvl="1"/>
            <a:r>
              <a:rPr lang="en-US" sz="1400" dirty="0"/>
              <a:t>Which device brands dominate user adoption?</a:t>
            </a:r>
          </a:p>
          <a:p>
            <a:pPr lvl="1"/>
            <a:r>
              <a:rPr lang="en-US" sz="1400" dirty="0"/>
              <a:t>Does device brand dominance influence transaction value or behavior?</a:t>
            </a:r>
          </a:p>
          <a:p>
            <a:pPr lvl="1"/>
            <a:r>
              <a:rPr lang="en-US" sz="1400" dirty="0"/>
              <a:t>How does population density impact digital payment adoption?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Top Findings:</a:t>
            </a:r>
          </a:p>
          <a:p>
            <a:pPr lvl="1"/>
            <a:r>
              <a:rPr lang="en-US" sz="1400" b="1" dirty="0"/>
              <a:t>Strong &amp; Consistent Transaction Growth. </a:t>
            </a:r>
            <a:r>
              <a:rPr lang="en-US" sz="1400" dirty="0"/>
              <a:t>Digital transaction value increased steadily from </a:t>
            </a:r>
            <a:r>
              <a:rPr lang="en-US" sz="1400" b="1" dirty="0"/>
              <a:t>2018 Q1 to 2021 Q2</a:t>
            </a:r>
            <a:r>
              <a:rPr lang="en-US" sz="1400" dirty="0"/>
              <a:t>, indicating sustained adoption momentum. </a:t>
            </a:r>
          </a:p>
          <a:p>
            <a:pPr lvl="1"/>
            <a:r>
              <a:rPr lang="en-US" sz="1400" b="1" dirty="0"/>
              <a:t>Peer-to-Peer Payments Dominate the Ecosystem. </a:t>
            </a:r>
            <a:r>
              <a:rPr lang="en-US" sz="1400" dirty="0"/>
              <a:t>Peer-to-peer transactions contribute the largest share of total transaction value, followed by merchant payments.</a:t>
            </a:r>
          </a:p>
          <a:p>
            <a:pPr lvl="1"/>
            <a:r>
              <a:rPr lang="en-US" sz="1400" b="1" dirty="0"/>
              <a:t>Transaction Volume is Geographically Concentrated. </a:t>
            </a:r>
            <a:r>
              <a:rPr lang="en-US" sz="1400" dirty="0"/>
              <a:t>A small group of high-population states contributes the majority of national transaction volume.</a:t>
            </a:r>
          </a:p>
          <a:p>
            <a:pPr lvl="1"/>
            <a:r>
              <a:rPr lang="en-US" sz="1400" b="1" dirty="0"/>
              <a:t>Growth is Driven by Both User Expansion &amp; Usage Intensity. </a:t>
            </a:r>
            <a:r>
              <a:rPr lang="en-US" sz="1400" dirty="0"/>
              <a:t>Transaction growth is not only due to rising registered users but also increasing transaction frequency per user.</a:t>
            </a:r>
          </a:p>
          <a:p>
            <a:pPr lvl="1"/>
            <a:r>
              <a:rPr lang="en-US" sz="1400" b="1" dirty="0"/>
              <a:t>Device Ecosystem Influences Adoption. </a:t>
            </a:r>
            <a:r>
              <a:rPr lang="en-US" sz="1400" dirty="0"/>
              <a:t>A few smartphone brands dominate user registration, suggesting device accessibility plays a critical role in digital payment penetration.</a:t>
            </a:r>
          </a:p>
          <a:p>
            <a:pPr lvl="1"/>
            <a:r>
              <a:rPr lang="en-US" sz="1400" b="1" dirty="0"/>
              <a:t>Emerging High-Growth States Identified. </a:t>
            </a:r>
            <a:r>
              <a:rPr lang="en-US" sz="1400" dirty="0"/>
              <a:t>Certain states show lower absolute volume but strong quarter-on-quarter growth, indicating future expansion markets.</a:t>
            </a:r>
          </a:p>
          <a:p>
            <a:pPr marL="0" indent="0">
              <a:buNone/>
            </a:pPr>
            <a:r>
              <a:rPr lang="en-US" sz="1400" b="1" dirty="0"/>
              <a:t>Supporting Metrics: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Total Transaction Value: 35.63T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Total Transaction Count: 21bn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Average Transaction Value: 1.74K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Total Registered Users: 2bn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Peer-to-Peer Share: ~44.62% 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Merchant Payment Share: ~33.89% 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Highest Registered Users: Maharashtra – (~0.32bn)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/>
              <a:t>Highest Device Adoption:  Xiaomi –  (~0.62bn Users)</a:t>
            </a:r>
            <a:endParaRPr lang="en-US" altLang="en-US" sz="1400" dirty="0"/>
          </a:p>
          <a:p>
            <a:pPr marL="457200" lvl="1" indent="0">
              <a:buNone/>
            </a:pP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</a:p>
          <a:p>
            <a:pPr lvl="1"/>
            <a:r>
              <a:rPr lang="en-US" sz="1500" dirty="0"/>
              <a:t>The digital payments ecosystem shows:</a:t>
            </a:r>
          </a:p>
          <a:p>
            <a:pPr lvl="2"/>
            <a:r>
              <a:rPr lang="en-US" sz="1500" b="1" dirty="0"/>
              <a:t>Strong and consistent quarterly growth</a:t>
            </a:r>
            <a:endParaRPr lang="en-US" sz="1500" dirty="0"/>
          </a:p>
          <a:p>
            <a:pPr lvl="2"/>
            <a:r>
              <a:rPr lang="en-US" sz="1500" dirty="0"/>
              <a:t>High concentration of users in top-performing states</a:t>
            </a:r>
          </a:p>
          <a:p>
            <a:pPr lvl="2"/>
            <a:r>
              <a:rPr lang="en-US" sz="1500" dirty="0"/>
              <a:t>Device ecosystem significantly influencing adoption</a:t>
            </a:r>
          </a:p>
          <a:p>
            <a:pPr lvl="2"/>
            <a:r>
              <a:rPr lang="en-US" sz="1500" dirty="0"/>
              <a:t>Dominance of </a:t>
            </a:r>
            <a:r>
              <a:rPr lang="en-US" sz="1500" b="1" dirty="0"/>
              <a:t>Peer-to-Peer &amp; Merchant Payments</a:t>
            </a:r>
            <a:endParaRPr lang="en-US" sz="1500" dirty="0"/>
          </a:p>
          <a:p>
            <a:pPr lvl="2"/>
            <a:r>
              <a:rPr lang="en-US" sz="1500" dirty="0"/>
              <a:t>The data reflects a scalable and expanding digital economy.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Overview (1) – Transaction Performance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3825B29-4CDF-001E-A616-4858AE69AC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dirty="0"/>
              <a:t>🖥️ </a:t>
            </a:r>
            <a:r>
              <a:rPr lang="en-US" sz="4000" b="1" dirty="0"/>
              <a:t>Dashboard Overview (2) – Demographic Analysis</a:t>
            </a:r>
            <a:endParaRPr lang="en-US" sz="40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881F88-CF9B-17A2-58D7-BCF6C0A4BE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34F2-CCF8-1D96-9B31-A883DBC0A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740A08F9-E9B1-6094-2457-B4E885BA8E4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AB9FD2F-9969-18D8-87D0-BF23E6D9587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885780"/>
            <a:ext cx="12192000" cy="4337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b="1" dirty="0"/>
              <a:t>Identify high-growth states for market expansion</a:t>
            </a:r>
            <a:endParaRPr lang="en-US" sz="1500" dirty="0"/>
          </a:p>
          <a:p>
            <a:pPr lvl="2"/>
            <a:r>
              <a:rPr lang="en-US" sz="1500" dirty="0"/>
              <a:t>Detect emerging states with </a:t>
            </a:r>
            <a:r>
              <a:rPr lang="en-US" sz="1500" b="1" dirty="0"/>
              <a:t>strong quarter-on-quarter growth</a:t>
            </a:r>
            <a:endParaRPr lang="en-US" sz="1500" dirty="0"/>
          </a:p>
          <a:p>
            <a:pPr lvl="2"/>
            <a:r>
              <a:rPr lang="en-US" sz="1500" dirty="0"/>
              <a:t>Prioritize regions with increasing transaction value per user</a:t>
            </a:r>
          </a:p>
          <a:p>
            <a:pPr lvl="1"/>
            <a:r>
              <a:rPr lang="en-US" sz="1500" b="1" dirty="0"/>
              <a:t>Optimize marketing campaigns by dominant device segments</a:t>
            </a:r>
            <a:endParaRPr lang="en-US" sz="1500" dirty="0"/>
          </a:p>
          <a:p>
            <a:pPr lvl="2"/>
            <a:r>
              <a:rPr lang="en-US" sz="1500" dirty="0"/>
              <a:t>Align promotional strategies with high-adoption smartphone brands</a:t>
            </a:r>
          </a:p>
          <a:p>
            <a:pPr lvl="2"/>
            <a:r>
              <a:rPr lang="en-US" sz="1500" dirty="0"/>
              <a:t>Improve ROI through data-backed customer segmentation</a:t>
            </a:r>
          </a:p>
          <a:p>
            <a:pPr lvl="1"/>
            <a:r>
              <a:rPr lang="en-US" sz="1500" b="1" dirty="0"/>
              <a:t>Track category-wise transaction performance trends</a:t>
            </a:r>
            <a:endParaRPr lang="en-US" sz="1500" dirty="0"/>
          </a:p>
          <a:p>
            <a:pPr lvl="2"/>
            <a:r>
              <a:rPr lang="en-US" sz="1500" dirty="0"/>
              <a:t>Monitor growth of peer-to-peer vs merchant payments</a:t>
            </a:r>
          </a:p>
          <a:p>
            <a:pPr lvl="2"/>
            <a:r>
              <a:rPr lang="en-US" sz="1500" dirty="0"/>
              <a:t>Identify shifts in transaction mix over time</a:t>
            </a:r>
          </a:p>
          <a:p>
            <a:pPr lvl="1"/>
            <a:r>
              <a:rPr lang="en-US" sz="1500" b="1" dirty="0"/>
              <a:t>Support fintech investment decisions using state-level performance data</a:t>
            </a:r>
            <a:endParaRPr lang="en-US" sz="1500" dirty="0"/>
          </a:p>
          <a:p>
            <a:pPr lvl="2"/>
            <a:r>
              <a:rPr lang="en-US" sz="1500" dirty="0"/>
              <a:t>Identify high-value markets contributing most to national volume</a:t>
            </a:r>
          </a:p>
          <a:p>
            <a:pPr lvl="2"/>
            <a:r>
              <a:rPr lang="en-US" sz="1500" dirty="0"/>
              <a:t>Detect underpenetrated but fast-growing regions</a:t>
            </a:r>
            <a:endParaRPr lang="en-US" sz="1500" b="1" dirty="0"/>
          </a:p>
          <a:p>
            <a:pPr lvl="1"/>
            <a:r>
              <a:rPr lang="en-US" sz="1500" b="1" dirty="0"/>
              <a:t>Enable data-driven regional targeting</a:t>
            </a:r>
            <a:endParaRPr lang="en-US" sz="1500" dirty="0"/>
          </a:p>
          <a:p>
            <a:pPr lvl="2"/>
            <a:r>
              <a:rPr lang="en-US" sz="1500" dirty="0"/>
              <a:t>Understand geographic concentration of transaction activity</a:t>
            </a:r>
          </a:p>
          <a:p>
            <a:pPr lvl="2"/>
            <a:r>
              <a:rPr lang="en-US" sz="1500" dirty="0"/>
              <a:t>Guide localized product and partnership strategies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32231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6794</TotalTime>
  <Words>1043</Words>
  <Application>Microsoft Office PowerPoint</Application>
  <PresentationFormat>Widescreen</PresentationFormat>
  <Paragraphs>166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PhonePe - Digital Payments Transaction &amp; Demographic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Transaction Performance</vt:lpstr>
      <vt:lpstr>🖥️ Dashboard Overview (2) – Demographic Analysis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67</cp:revision>
  <dcterms:created xsi:type="dcterms:W3CDTF">2025-10-10T07:10:37Z</dcterms:created>
  <dcterms:modified xsi:type="dcterms:W3CDTF">2026-04-05T18:40:30Z</dcterms:modified>
</cp:coreProperties>
</file>